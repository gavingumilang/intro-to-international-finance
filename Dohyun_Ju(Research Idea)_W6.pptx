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361" r:id="rId3"/>
    <p:sldId id="360" r:id="rId4"/>
    <p:sldId id="368" r:id="rId5"/>
    <p:sldId id="369" r:id="rId6"/>
    <p:sldId id="36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97F8"/>
    <a:srgbClr val="F4AD20"/>
    <a:srgbClr val="FFCC66"/>
    <a:srgbClr val="69B5CD"/>
    <a:srgbClr val="5586BB"/>
    <a:srgbClr val="432AD6"/>
    <a:srgbClr val="EEF0EB"/>
    <a:srgbClr val="284B63"/>
    <a:srgbClr val="3E7498"/>
    <a:srgbClr val="F4F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072" autoAdjust="0"/>
  </p:normalViewPr>
  <p:slideViewPr>
    <p:cSldViewPr snapToGrid="0" snapToObjects="1">
      <p:cViewPr varScale="1">
        <p:scale>
          <a:sx n="86" d="100"/>
          <a:sy n="86" d="100"/>
        </p:scale>
        <p:origin x="1354" y="67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01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3AAF4-AE66-BA94-C974-E3BC0C04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0F532-F27F-E9CE-3149-8B4B1EB58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EB961-1F41-962A-AB09-191ED29DF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45717-34AF-FB76-8BFD-5210591E5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75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FBB4E-96E8-8871-D613-1B8823A30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23D31-53EA-C87C-2BBA-DE4CE63C9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69A6E-F294-C703-C562-DD3669A13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9F50-A75E-9246-CCF9-54495A8E8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4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9692-5469-EEE3-4B47-A80D076A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02C02-AA7F-F338-8F9E-A07735EB6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34A9C-3B5A-8E08-5170-10264F4B5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22FA6-65FF-9D1A-1BDB-9E6CA8A81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64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48ADE-54BC-C228-DA8B-A10FE8CE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B20BC-71CF-E130-D0D5-3AB2A35D8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B6A76-18CC-DF7B-9378-D733ADB53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49E14-FBC8-3972-B0CF-FE4A0302A4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28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62B4-36B0-D901-AC5C-480CD3E3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2479D-A906-4645-55FB-24941A012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52CED-60C4-E9E9-43C6-04FE0BC3A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CEF29-C34C-7C73-BB8E-6D8A3B1789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57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910" y="760139"/>
            <a:ext cx="8296179" cy="127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Dollar as a Weapon:</a:t>
            </a:r>
          </a:p>
          <a:p>
            <a:r>
              <a:rPr lang="en-US" altLang="ko-KR" sz="40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to Sovereign Risk?</a:t>
            </a:r>
            <a:endParaRPr lang="ko-KR" altLang="en-US" sz="40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3910" y="237966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84B6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SWIFT exclusion and foreign reserve seizure</a:t>
            </a:r>
            <a:endParaRPr lang="en-US" sz="2400" dirty="0">
              <a:solidFill>
                <a:srgbClr val="284B6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23909" y="2934517"/>
            <a:ext cx="580821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8641080" y="274320"/>
            <a:ext cx="0" cy="45720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7509EB4-9FBC-80DF-7D06-944F8AB2AADA}"/>
              </a:ext>
            </a:extLst>
          </p:cNvPr>
          <p:cNvGrpSpPr/>
          <p:nvPr/>
        </p:nvGrpSpPr>
        <p:grpSpPr>
          <a:xfrm>
            <a:off x="4750977" y="3628362"/>
            <a:ext cx="3821525" cy="846924"/>
            <a:chOff x="4750977" y="4044922"/>
            <a:chExt cx="3821525" cy="846924"/>
          </a:xfrm>
        </p:grpSpPr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5E830C38-AB7C-43C4-9713-FEE1467850F9}"/>
                </a:ext>
              </a:extLst>
            </p:cNvPr>
            <p:cNvSpPr/>
            <p:nvPr/>
          </p:nvSpPr>
          <p:spPr>
            <a:xfrm>
              <a:off x="5179928" y="4044922"/>
              <a:ext cx="339257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dirty="0">
                  <a:solidFill>
                    <a:srgbClr val="284B63"/>
                  </a:solidFill>
                  <a:latin typeface="Cambria Math" pitchFamily="34" charset="0"/>
                  <a:ea typeface="Cambria Math" pitchFamily="34" charset="-122"/>
                </a:rPr>
                <a:t>Topics in International Finance</a:t>
              </a:r>
              <a:endParaRPr lang="en-US" sz="1400" dirty="0">
                <a:solidFill>
                  <a:srgbClr val="284B63"/>
                </a:solidFill>
              </a:endParaRPr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3102F65A-912E-DA97-0CA0-A3D558530D1F}"/>
                </a:ext>
              </a:extLst>
            </p:cNvPr>
            <p:cNvSpPr/>
            <p:nvPr/>
          </p:nvSpPr>
          <p:spPr>
            <a:xfrm>
              <a:off x="4750977" y="4361244"/>
              <a:ext cx="3821525" cy="5306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/>
              <a:r>
                <a:rPr lang="en-US" sz="1300" dirty="0">
                  <a:solidFill>
                    <a:srgbClr val="284B63"/>
                  </a:solidFill>
                  <a:latin typeface="Cambria Math" pitchFamily="34" charset="0"/>
                  <a:ea typeface="Cambria Math" pitchFamily="34" charset="-122"/>
                </a:rPr>
                <a:t>Dohyun Ju</a:t>
              </a:r>
            </a:p>
            <a:p>
              <a:pPr algn="r"/>
              <a:r>
                <a:rPr lang="en-US" sz="1300" dirty="0">
                  <a:solidFill>
                    <a:srgbClr val="284B63"/>
                  </a:solidFill>
                  <a:latin typeface="Cambria Math" pitchFamily="34" charset="0"/>
                  <a:ea typeface="Cambria Math" pitchFamily="34" charset="-122"/>
                </a:rPr>
                <a:t>Dept. of ITFM </a:t>
              </a:r>
            </a:p>
            <a:p>
              <a:pPr algn="r"/>
              <a:r>
                <a:rPr lang="en-US" sz="1300" dirty="0">
                  <a:solidFill>
                    <a:srgbClr val="284B63"/>
                  </a:solidFill>
                  <a:latin typeface="Cambria Math" pitchFamily="34" charset="0"/>
                  <a:ea typeface="Cambria Math" pitchFamily="34" charset="-122"/>
                </a:rPr>
                <a:t>2025462127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44AF31-B08E-F72F-1D26-B462EFF1A7D5}"/>
              </a:ext>
            </a:extLst>
          </p:cNvPr>
          <p:cNvSpPr/>
          <p:nvPr/>
        </p:nvSpPr>
        <p:spPr>
          <a:xfrm>
            <a:off x="-12547" y="-17146"/>
            <a:ext cx="311481" cy="5160645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293E2-6FC8-0EA2-E3BE-EE5AEEBA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3CBC0556-097F-2EB6-CE83-D3627B1BBE25}"/>
              </a:ext>
            </a:extLst>
          </p:cNvPr>
          <p:cNvSpPr/>
          <p:nvPr/>
        </p:nvSpPr>
        <p:spPr>
          <a:xfrm>
            <a:off x="223521" y="2629313"/>
            <a:ext cx="8463280" cy="1220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models focus on explaining Sovereign Risk in terms of economic driven-factors: income/output, debt, spreads, </a:t>
            </a:r>
            <a:r>
              <a:rPr lang="en-US" sz="2000" dirty="0" err="1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i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Arellano (2008), Mendoza &amp; Yue (2012)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A5C8C9-E25A-597F-D6CA-BEBB0275C211}"/>
              </a:ext>
            </a:extLst>
          </p:cNvPr>
          <p:cNvSpPr/>
          <p:nvPr/>
        </p:nvSpPr>
        <p:spPr>
          <a:xfrm>
            <a:off x="110207" y="0"/>
            <a:ext cx="113314" cy="859657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BDC10B5-1620-2E4F-C035-391F2F0B1527}"/>
              </a:ext>
            </a:extLst>
          </p:cNvPr>
          <p:cNvSpPr/>
          <p:nvPr/>
        </p:nvSpPr>
        <p:spPr>
          <a:xfrm>
            <a:off x="223520" y="3850010"/>
            <a:ext cx="8463280" cy="106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Yet, in practice, geopolitical tensions drive dollar weaponization: a new driver of sovereign risk </a:t>
            </a:r>
            <a:r>
              <a:rPr lang="en-US" sz="16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1600" i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Bianchi &amp; Sosa-Padilla (2024, JME)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0A38AE9-CEB9-4F63-247D-0A626BEB9769}"/>
              </a:ext>
            </a:extLst>
          </p:cNvPr>
          <p:cNvSpPr/>
          <p:nvPr/>
        </p:nvSpPr>
        <p:spPr>
          <a:xfrm>
            <a:off x="223520" y="1004624"/>
            <a:ext cx="8463280" cy="1466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284B6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Does dollar weaponization — </a:t>
            </a:r>
            <a:r>
              <a:rPr lang="en-US" sz="2600" b="1" i="1" dirty="0">
                <a:solidFill>
                  <a:srgbClr val="F4AD2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through SWIFT exclusion and foreign reserve seizure</a:t>
            </a:r>
            <a:r>
              <a:rPr lang="en-US" sz="2600" b="1" i="1" dirty="0">
                <a:solidFill>
                  <a:srgbClr val="284B6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— increase sovereign risk?</a:t>
            </a:r>
            <a:endParaRPr lang="en-US" sz="2600" b="1" dirty="0">
              <a:solidFill>
                <a:srgbClr val="284B63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5D4A78A-6919-270F-39C5-4DDE68D917B9}"/>
              </a:ext>
            </a:extLst>
          </p:cNvPr>
          <p:cNvSpPr/>
          <p:nvPr/>
        </p:nvSpPr>
        <p:spPr>
          <a:xfrm>
            <a:off x="359508" y="24255"/>
            <a:ext cx="3526357" cy="77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endParaRPr lang="ko-KR" altLang="en-US" sz="28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69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D9CF9-45E7-49D6-22C3-F13305B1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>
            <a:extLst>
              <a:ext uri="{FF2B5EF4-FFF2-40B4-BE49-F238E27FC236}">
                <a16:creationId xmlns:a16="http://schemas.microsoft.com/office/drawing/2014/main" id="{B942F246-A646-0628-1FDE-01845F004D9A}"/>
              </a:ext>
            </a:extLst>
          </p:cNvPr>
          <p:cNvSpPr/>
          <p:nvPr/>
        </p:nvSpPr>
        <p:spPr>
          <a:xfrm>
            <a:off x="166864" y="3023611"/>
            <a:ext cx="9144000" cy="1466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284B6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Geopolitical dollar system exclusion creates sovereign risk 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284B6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beyond economic fundamentals.</a:t>
            </a:r>
            <a:endParaRPr lang="en-US" sz="2400" i="1" dirty="0">
              <a:solidFill>
                <a:srgbClr val="284B63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3C11C29-E509-1FB6-C5F0-541584BEAF73}"/>
              </a:ext>
            </a:extLst>
          </p:cNvPr>
          <p:cNvSpPr/>
          <p:nvPr/>
        </p:nvSpPr>
        <p:spPr>
          <a:xfrm>
            <a:off x="223521" y="1961362"/>
            <a:ext cx="8463280" cy="106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Russia–Ukraine War (2022)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SWIFT exclusion + $300B reserve freeze</a:t>
            </a: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0864D5F5-7EFE-D788-C06C-9CC8EE55AC43}"/>
              </a:ext>
            </a:extLst>
          </p:cNvPr>
          <p:cNvSpPr/>
          <p:nvPr/>
        </p:nvSpPr>
        <p:spPr>
          <a:xfrm rot="16200000">
            <a:off x="223522" y="3491170"/>
            <a:ext cx="686279" cy="531124"/>
          </a:xfrm>
          <a:prstGeom prst="downArrow">
            <a:avLst>
              <a:gd name="adj1" fmla="val 50000"/>
              <a:gd name="adj2" fmla="val 65625"/>
            </a:avLst>
          </a:prstGeom>
          <a:gradFill>
            <a:gsLst>
              <a:gs pos="0">
                <a:schemeClr val="bg1"/>
              </a:gs>
              <a:gs pos="27000">
                <a:srgbClr val="E5E7ED"/>
              </a:gs>
              <a:gs pos="63000">
                <a:srgbClr val="3E7498"/>
              </a:gs>
              <a:gs pos="100000">
                <a:srgbClr val="284B6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00BB08-3D25-F264-1A23-8A7FBB2E0390}"/>
              </a:ext>
            </a:extLst>
          </p:cNvPr>
          <p:cNvSpPr/>
          <p:nvPr/>
        </p:nvSpPr>
        <p:spPr>
          <a:xfrm>
            <a:off x="110207" y="0"/>
            <a:ext cx="113314" cy="859657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C145214-F27F-51C5-4B63-79F309BF0DEA}"/>
              </a:ext>
            </a:extLst>
          </p:cNvPr>
          <p:cNvSpPr/>
          <p:nvPr/>
        </p:nvSpPr>
        <p:spPr>
          <a:xfrm>
            <a:off x="359508" y="24255"/>
            <a:ext cx="3526357" cy="77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ko-KR" altLang="en-US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ko-KR" altLang="en-US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matters</a:t>
            </a:r>
            <a:endParaRPr lang="ko-KR" altLang="en-US" sz="28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B05CD24-3ED2-6FE8-4489-66894C273053}"/>
              </a:ext>
            </a:extLst>
          </p:cNvPr>
          <p:cNvSpPr/>
          <p:nvPr/>
        </p:nvSpPr>
        <p:spPr>
          <a:xfrm>
            <a:off x="223519" y="811051"/>
            <a:ext cx="8463280" cy="106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 reducing sovereign risk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55F0846-BEB6-E208-FB8C-8CDAEEF65858}"/>
              </a:ext>
            </a:extLst>
          </p:cNvPr>
          <p:cNvSpPr/>
          <p:nvPr/>
        </p:nvSpPr>
        <p:spPr>
          <a:xfrm>
            <a:off x="223521" y="1231138"/>
            <a:ext cx="8463280" cy="106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84B63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— </a:t>
            </a:r>
            <a:r>
              <a:rPr kumimoji="0" lang="it-IT" altLang="ko-KR" sz="1600" i="1" u="none" strike="noStrike" kern="1200" cap="none" spc="0" normalizeH="0" baseline="0" noProof="0" dirty="0">
                <a:ln>
                  <a:noFill/>
                </a:ln>
                <a:solidFill>
                  <a:srgbClr val="284B63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Hur &amp; Kondo (2016, JIE), Bianchi, Hatchondo &amp; Martinez (2018, AER),</a:t>
            </a:r>
          </a:p>
          <a:p>
            <a:pPr marL="0" indent="0">
              <a:buNone/>
            </a:pPr>
            <a:r>
              <a:rPr kumimoji="0" lang="it-IT" altLang="ko-KR" sz="1600" i="1" u="none" strike="noStrike" kern="1200" cap="none" spc="0" normalizeH="0" baseline="0" noProof="0" dirty="0">
                <a:ln>
                  <a:noFill/>
                </a:ln>
                <a:solidFill>
                  <a:srgbClr val="284B63"/>
                </a:solidFill>
                <a:effectLst/>
                <a:uLnTx/>
                <a:uFillTx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Bianchi &amp; Sosa-Padilla (2024, ReStud), </a:t>
            </a:r>
            <a:endParaRPr lang="en-US" sz="1600" i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4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C9C0F-5FD8-5AB7-DA9E-5D649489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B9A9AA03-EA42-FFFD-96A6-AFEB9E4CDBDA}"/>
              </a:ext>
            </a:extLst>
          </p:cNvPr>
          <p:cNvGrpSpPr/>
          <p:nvPr/>
        </p:nvGrpSpPr>
        <p:grpSpPr>
          <a:xfrm>
            <a:off x="60960" y="980475"/>
            <a:ext cx="9022080" cy="1124526"/>
            <a:chOff x="60960" y="1000795"/>
            <a:chExt cx="9022080" cy="112452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19B0347-C16A-5719-0403-9A607CEBC58F}"/>
                </a:ext>
              </a:extLst>
            </p:cNvPr>
            <p:cNvSpPr/>
            <p:nvPr/>
          </p:nvSpPr>
          <p:spPr>
            <a:xfrm>
              <a:off x="60960" y="1000795"/>
              <a:ext cx="9022080" cy="1124526"/>
            </a:xfrm>
            <a:prstGeom prst="rect">
              <a:avLst/>
            </a:prstGeom>
            <a:solidFill>
              <a:srgbClr val="F4F9E9"/>
            </a:solidFill>
            <a:ln w="19050">
              <a:solidFill>
                <a:srgbClr val="234969">
                  <a:alpha val="98000"/>
                </a:srgb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 1">
              <a:extLst>
                <a:ext uri="{FF2B5EF4-FFF2-40B4-BE49-F238E27FC236}">
                  <a16:creationId xmlns:a16="http://schemas.microsoft.com/office/drawing/2014/main" id="{F26CB6D3-BEE4-998D-7F64-99402A795F53}"/>
                </a:ext>
              </a:extLst>
            </p:cNvPr>
            <p:cNvSpPr/>
            <p:nvPr/>
          </p:nvSpPr>
          <p:spPr>
            <a:xfrm>
              <a:off x="340360" y="1031934"/>
              <a:ext cx="8463280" cy="10622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000" b="1" dirty="0">
                  <a:solidFill>
                    <a:srgbClr val="5C97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Price_t </a:t>
              </a:r>
              <a:r>
                <a:rPr lang="fr-FR" sz="2000" b="1" dirty="0">
                  <a:solidFill>
                    <a:srgbClr val="2349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α + β₁</a:t>
              </a:r>
              <a:r>
                <a:rPr 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SWIFT_t</a:t>
              </a:r>
              <a:r>
                <a:rPr lang="fr-FR" sz="2000" b="1" dirty="0">
                  <a:solidFill>
                    <a:srgbClr val="2349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β₂</a:t>
              </a:r>
              <a:r>
                <a:rPr lang="fr-FR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Freeze_t</a:t>
              </a:r>
              <a:r>
                <a:rPr lang="fr-FR" sz="2000" b="1" dirty="0">
                  <a:solidFill>
                    <a:srgbClr val="2349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γ₁Oil_t + γ₂VIX_t + γ₃US10Y_t + ε_t</a:t>
              </a:r>
              <a:endParaRPr lang="en-US" sz="2000" b="1" dirty="0">
                <a:solidFill>
                  <a:srgbClr val="23496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3B06F3-8CD4-EA11-0257-65488E0269CC}"/>
              </a:ext>
            </a:extLst>
          </p:cNvPr>
          <p:cNvSpPr/>
          <p:nvPr/>
        </p:nvSpPr>
        <p:spPr>
          <a:xfrm>
            <a:off x="110207" y="0"/>
            <a:ext cx="113314" cy="859657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CE24A382-CE72-CD35-2CDC-A67E372AA7C5}"/>
              </a:ext>
            </a:extLst>
          </p:cNvPr>
          <p:cNvSpPr/>
          <p:nvPr/>
        </p:nvSpPr>
        <p:spPr>
          <a:xfrm>
            <a:off x="359508" y="24255"/>
            <a:ext cx="3526357" cy="77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ko-KR" altLang="en-US" sz="28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8288649-EA89-FD43-4887-4353989AB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72855"/>
              </p:ext>
            </p:extLst>
          </p:nvPr>
        </p:nvGraphicFramePr>
        <p:xfrm>
          <a:off x="223521" y="2282848"/>
          <a:ext cx="8451849" cy="2582853"/>
        </p:xfrm>
        <a:graphic>
          <a:graphicData uri="http://schemas.openxmlformats.org/drawingml/2006/table">
            <a:tbl>
              <a:tblPr/>
              <a:tblGrid>
                <a:gridCol w="1440656">
                  <a:extLst>
                    <a:ext uri="{9D8B030D-6E8A-4147-A177-3AD203B41FA5}">
                      <a16:colId xmlns:a16="http://schemas.microsoft.com/office/drawing/2014/main" val="3697917387"/>
                    </a:ext>
                  </a:extLst>
                </a:gridCol>
                <a:gridCol w="4129881">
                  <a:extLst>
                    <a:ext uri="{9D8B030D-6E8A-4147-A177-3AD203B41FA5}">
                      <a16:colId xmlns:a16="http://schemas.microsoft.com/office/drawing/2014/main" val="2717399132"/>
                    </a:ext>
                  </a:extLst>
                </a:gridCol>
                <a:gridCol w="2881312">
                  <a:extLst>
                    <a:ext uri="{9D8B030D-6E8A-4147-A177-3AD203B41FA5}">
                      <a16:colId xmlns:a16="http://schemas.microsoft.com/office/drawing/2014/main" val="3701595228"/>
                    </a:ext>
                  </a:extLst>
                </a:gridCol>
              </a:tblGrid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Variable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657943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C97F8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Price_t</a:t>
                      </a:r>
                      <a:endParaRPr lang="en-US" sz="1100" dirty="0">
                        <a:solidFill>
                          <a:srgbClr val="5C97F8"/>
                        </a:solidFill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Russia Eurobond (RUS-30) daily price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Dependent variable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7329516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SWIFT_t</a:t>
                      </a:r>
                      <a:endParaRPr lang="en-US" sz="1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Dummy = 1 after Feb 26, 2022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independent var.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0275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Freeze_t</a:t>
                      </a:r>
                      <a:endParaRPr lang="en-US" sz="1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Dummy = 1 after Feb 28, 2022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independent var.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4934242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Oil_t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Brent crude oil price (daily)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Control (income proxy)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66000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VIX_t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CBOE Volatility Index (daily)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Control (global risk)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187234"/>
                  </a:ext>
                </a:extLst>
              </a:tr>
              <a:tr h="3689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onsolas" pitchFamily="34" charset="-122"/>
                          <a:cs typeface="Times New Roman" panose="02020603050405020304" pitchFamily="18" charset="0"/>
                        </a:rPr>
                        <a:t>US10Y_t</a:t>
                      </a:r>
                      <a:endParaRPr lang="en-US" sz="1100" dirty="0">
                        <a:latin typeface="Times New Roman" panose="02020603050405020304" pitchFamily="18" charset="0"/>
                        <a:ea typeface="Consolas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US 10-Year Treasury yield (daily)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Control (global rate)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495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36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4B33B-99CE-A2E0-E5C5-E1B65010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E74905-A85F-137E-2F2B-FD12D360E36D}"/>
              </a:ext>
            </a:extLst>
          </p:cNvPr>
          <p:cNvSpPr/>
          <p:nvPr/>
        </p:nvSpPr>
        <p:spPr>
          <a:xfrm>
            <a:off x="110207" y="0"/>
            <a:ext cx="113314" cy="859657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EE3F8779-2EBF-7C6E-06ED-800A109F8D55}"/>
              </a:ext>
            </a:extLst>
          </p:cNvPr>
          <p:cNvSpPr/>
          <p:nvPr/>
        </p:nvSpPr>
        <p:spPr>
          <a:xfrm>
            <a:off x="359508" y="24255"/>
            <a:ext cx="3526357" cy="77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ko-KR" altLang="en-US" sz="28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563E23A-2456-6A98-DA83-A3E64B2E561D}"/>
              </a:ext>
            </a:extLst>
          </p:cNvPr>
          <p:cNvSpPr/>
          <p:nvPr/>
        </p:nvSpPr>
        <p:spPr>
          <a:xfrm>
            <a:off x="223521" y="1961362"/>
            <a:ext cx="8463280" cy="106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much important dollar weaponization can affect sovereign risk in the middle of geopolitical conflict</a:t>
            </a:r>
            <a:endParaRPr lang="en-US" sz="2000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47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7356-CEBD-5B27-AD2A-5A6709CC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10AF5D-2F8B-B210-91A1-68773D475E71}"/>
              </a:ext>
            </a:extLst>
          </p:cNvPr>
          <p:cNvSpPr/>
          <p:nvPr/>
        </p:nvSpPr>
        <p:spPr>
          <a:xfrm>
            <a:off x="457200" y="1745031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284B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ko-KR" altLang="en-US" sz="5400" b="1" dirty="0">
              <a:solidFill>
                <a:srgbClr val="284B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E57E7D1-BA8B-203B-FC83-3BF976A1DF1C}"/>
              </a:ext>
            </a:extLst>
          </p:cNvPr>
          <p:cNvSpPr/>
          <p:nvPr/>
        </p:nvSpPr>
        <p:spPr>
          <a:xfrm>
            <a:off x="8641080" y="274320"/>
            <a:ext cx="0" cy="45720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D0DB69-FF56-D3FA-F961-B3C0F30EA1D8}"/>
              </a:ext>
            </a:extLst>
          </p:cNvPr>
          <p:cNvSpPr/>
          <p:nvPr/>
        </p:nvSpPr>
        <p:spPr>
          <a:xfrm>
            <a:off x="-12547" y="-17146"/>
            <a:ext cx="311481" cy="5160645"/>
          </a:xfrm>
          <a:prstGeom prst="rect">
            <a:avLst/>
          </a:prstGeom>
          <a:solidFill>
            <a:srgbClr val="1C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2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74FCDA-5AB2-4252-A598-E9D85A4C05A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525a5f5-f380-4692-844b-24c5e9e1020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325</Words>
  <Application>Microsoft Office PowerPoint</Application>
  <PresentationFormat>화면 슬라이드 쇼(16:9)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Ocean Strategy - Chapter 1</dc:title>
  <dc:subject>PptxGenJS Presentation</dc:subject>
  <dc:creator>Dohyun JU</dc:creator>
  <cp:lastModifiedBy>Dohyun JU`</cp:lastModifiedBy>
  <cp:revision>31</cp:revision>
  <dcterms:created xsi:type="dcterms:W3CDTF">2026-03-12T17:57:16Z</dcterms:created>
  <dcterms:modified xsi:type="dcterms:W3CDTF">2026-04-14T01:35:15Z</dcterms:modified>
</cp:coreProperties>
</file>
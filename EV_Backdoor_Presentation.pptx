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20" autoAdjust="0"/>
    <p:restoredTop sz="94610"/>
  </p:normalViewPr>
  <p:slideViewPr>
    <p:cSldViewPr snapToGrid="0" snapToObjects="1">
      <p:cViewPr>
        <p:scale>
          <a:sx n="113" d="100"/>
          <a:sy n="113" d="100"/>
        </p:scale>
        <p:origin x="24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Indonesia metals (battery upstream)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510</c:v>
                </c:pt>
                <c:pt idx="1">
                  <c:v>490</c:v>
                </c:pt>
                <c:pt idx="2">
                  <c:v>200</c:v>
                </c:pt>
                <c:pt idx="3">
                  <c:v>790</c:v>
                </c:pt>
                <c:pt idx="4">
                  <c:v>4320</c:v>
                </c:pt>
                <c:pt idx="5">
                  <c:v>1640</c:v>
                </c:pt>
                <c:pt idx="6">
                  <c:v>1250</c:v>
                </c:pt>
                <c:pt idx="7">
                  <c:v>500</c:v>
                </c:pt>
                <c:pt idx="8">
                  <c:v>3590</c:v>
                </c:pt>
                <c:pt idx="9">
                  <c:v>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2-4976-90EA-8FCC5BF174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Indonesia transport (EV assembly)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390</c:v>
                </c:pt>
                <c:pt idx="1">
                  <c:v>200</c:v>
                </c:pt>
                <c:pt idx="2">
                  <c:v>250</c:v>
                </c:pt>
                <c:pt idx="3">
                  <c:v>2940</c:v>
                </c:pt>
                <c:pt idx="4">
                  <c:v>1990</c:v>
                </c:pt>
                <c:pt idx="5">
                  <c:v>940</c:v>
                </c:pt>
                <c:pt idx="7">
                  <c:v>290</c:v>
                </c:pt>
                <c:pt idx="9">
                  <c:v>2550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92-4976-90EA-8FCC5BF174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Thailand transport (EV assembly)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400</c:v>
                </c:pt>
                <c:pt idx="3">
                  <c:v>530</c:v>
                </c:pt>
                <c:pt idx="4">
                  <c:v>300</c:v>
                </c:pt>
                <c:pt idx="5">
                  <c:v>940</c:v>
                </c:pt>
                <c:pt idx="7">
                  <c:v>610</c:v>
                </c:pt>
                <c:pt idx="8">
                  <c:v>710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92-4976-90EA-8FCC5BF174B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Vietnam transport (EV assembly)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190</c:v>
                </c:pt>
                <c:pt idx="3">
                  <c:v>390</c:v>
                </c:pt>
                <c:pt idx="5">
                  <c:v>430</c:v>
                </c:pt>
                <c:pt idx="6">
                  <c:v>430</c:v>
                </c:pt>
                <c:pt idx="7">
                  <c:v>140</c:v>
                </c:pt>
                <c:pt idx="8">
                  <c:v>800</c:v>
                </c:pt>
                <c:pt idx="9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92-4976-90EA-8FCC5BF174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ID" sz="1000" b="0" i="0" u="none" strike="noStrike">
                <a:solidFill>
                  <a:srgbClr val="64748B"/>
                </a:solidFill>
                <a:latin typeface="Arial"/>
              </a:rPr>
              <a:t>USD billion — first-ever crossover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 (China)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2024 Chinese EV
sector investment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D1-498B-9CEA-CB389FC57E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Overseas (SEA + global)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2024 Chinese EV
sector investment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D1-498B-9CEA-CB389FC57E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0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research question aloud. Pause. Say: 'Today we show you the first empirical evidence that this backdoor is real.'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tariff row. The May 2024 100% EV tariff is our key treatment event — the most aggressive and sector-specific action. Ask the audience: 'Did it actually work?' This sets up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Grover &amp; Vézina Figure 4b — show the upward-sloping line for Chinese FDI. Say: 'They show the aggregate pattern. We zoom into the one sector where US policy is most exposed — EV and battery.'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1:1 transformer figure is the most powerful trade evidence. Direct Chinese exports fall; connector country exports to US rise by the same amount. This is the backdoor in trade data — next slide shows it in capital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Indonesia metals surge in 2019 ($4.3B — nickel and battery material companies flooding in). Point to the 2023-2024 cluster. Be honest: AEI only captures deals above $95M and Transport/Metals are proxies. But the pattern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crossover is your headline number. The project table shows the mechanism is specific and immediate. Note that Huayou Cobalt April 2024 was BEFORE the tariff — anticipatory investment, which actually strengthens the argument that firms responded to the policy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transparent: 'We have not yet run this regression — fDi Markets access is pending. But the descriptive evidence already supports our hypothesis. The regression is the next step.' Point to β₁ as the single number that would validate or refute the backdoor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final quote. Pause after reading it. That is your closing line — don't add anything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0"/>
            <a:ext cx="91440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BACKDOOR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A261"/>
                </a:solidFill>
              </a:rPr>
              <a:t>Strategic relocation of Chinese capital in Southeast Asian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4A261"/>
                </a:solidFill>
              </a:rPr>
              <a:t>electric vehicle hubs following U.S. regulatory shocks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102030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918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</a:rPr>
              <a:t>Research Question: </a:t>
            </a:r>
            <a:r>
              <a:rPr lang="en-US" sz="1200" dirty="0">
                <a:solidFill>
                  <a:srgbClr val="FFFFFF"/>
                </a:solidFill>
              </a:rPr>
              <a:t>Does Chinese greenfield FDI into Southeast Asian connector countries spike in EV/battery sectors following US tariff escalation — and does this undermine US friendshoring decoupling?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Hanna Shkapich · Maria Pia Antunez · Dohyun Ju · Gavin Gumilang · Khanh Linh Do · Alicia Arquier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Topics in International Macroeconomics —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puzzle: did US tariffs achieve decoupling?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560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Policy /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tariff rates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301 tariffs (Trump Admin.)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1–4A on Chinese goods; solar safeguards up to 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Biden Admin. 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4-year extension of Section 201 solar tariffs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8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sector escalation (May 14)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EVs: 25%→100%  |  Li-ion batteries: 7.5%→25%  |  Critical minerals: 0%→25%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 adjustment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Semiconductors: 25%→50%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phase-in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Non-EV Li-ion batteries: 7.5%→25%  |  Natural graphite: 0%→25%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Policy goal: </a:t>
            </a:r>
            <a:r>
              <a:rPr lang="en-US" sz="1200" dirty="0">
                <a:solidFill>
                  <a:srgbClr val="1E293B"/>
                </a:solidFill>
              </a:rPr>
              <a:t>Force decoupling from Chinese capital in strategic supply chains — especially EVs and batteries.</a:t>
            </a:r>
            <a:r>
              <a:rPr lang="en-US" sz="1200" b="1" i="1" dirty="0">
                <a:solidFill>
                  <a:srgbClr val="E84855"/>
                </a:solidFill>
              </a:rPr>
              <a:t>  Key question: did it work?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LITERATURE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— and the gap we fill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9050">
            <a:solidFill>
              <a:srgbClr val="2C5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3383280"/>
          </a:xfrm>
          <a:prstGeom prst="rect">
            <a:avLst/>
          </a:prstGeom>
          <a:solidFill>
            <a:srgbClr val="EBF5FF"/>
          </a:solidFill>
          <a:ln w="9525">
            <a:solidFill>
              <a:srgbClr val="2C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What the literature shows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Grover &amp; Vézina (2025)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Chinese firms invest MORE in US-aligned countries — defying standard friendshoring forces.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Aiyar &amp; Ohnsorge (2024)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Connector countries substitute for direct inter-bloc linkages — indirect ties replace direct ones.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Alfaro &amp; Chor (2023)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US supply chains remain indirectly connected to China via Vietnam and Mexico — Chinese FDI follows trade diversion.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Gopinath et al. (2024)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Fragmentation trajectory resembles early Cold War — connector countries mitigate but do not eliminate decoupling losses.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3383280"/>
          </a:xfrm>
          <a:prstGeom prst="rect">
            <a:avLst/>
          </a:prstGeom>
          <a:solidFill>
            <a:srgbClr val="FFF0F0"/>
          </a:solidFill>
          <a:ln w="9525">
            <a:solidFill>
              <a:srgbClr val="E84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</a:rPr>
              <a:t>What nobody has tested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4855"/>
                </a:solidFill>
              </a:rPr>
              <a:t>No sector-specific evidence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All existing studies use aggregate FDI. None isolate the EV and battery supply chain — the sector most targeted by US policy.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4855"/>
                </a:solidFill>
              </a:rPr>
              <a:t>No event-study around 2024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Most papers conclude in 2022 or 2023 — missing the 100% EV tariff, the most significant shock.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4855"/>
                </a:solidFill>
              </a:rPr>
              <a:t>No project-level capital evidence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Existing work shows trade patterns but not where Chinese capital is actually going at the deal level.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9669"/>
                </a:solidFill>
              </a:rPr>
              <a:t>Our contribution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Sector-specific, event-driven, project-level evidence linking US tariff shocks to Chinese EV/battery FDI in connector countries.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 1 OF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flows: the backdoor is already visible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4855"/>
                </a:solidFill>
              </a:rPr>
              <a:t>71% → 59%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China's share of 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Li-ion battery imports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2023 →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4173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1.7% → 28%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20848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Vietnam's share of 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laptop imports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2018 →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72×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89120" y="20848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Chinese EV exports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 Indonesia spike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Jan–Apr 2024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76072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9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Smoking gun: transformer transshipment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Chinese transformer exports to Vietnam: </a:t>
            </a:r>
            <a:r>
              <a:rPr lang="en-US" sz="1100" b="1" dirty="0">
                <a:solidFill>
                  <a:srgbClr val="E84855"/>
                </a:solidFill>
              </a:rPr>
              <a:t>+$1.5B</a:t>
            </a:r>
            <a:r>
              <a:rPr lang="en-US" sz="1100" dirty="0">
                <a:solidFill>
                  <a:srgbClr val="1E293B"/>
                </a:solidFill>
              </a:rPr>
              <a:t> (2020–2025)
US imports of transformers from Vietnam: </a:t>
            </a:r>
            <a:r>
              <a:rPr lang="en-US" sz="1100" b="1" dirty="0">
                <a:solidFill>
                  <a:srgbClr val="E84855"/>
                </a:solidFill>
              </a:rPr>
              <a:t>+$1.4B</a:t>
            </a:r>
            <a:r>
              <a:rPr lang="en-US" sz="1100" dirty="0">
                <a:solidFill>
                  <a:srgbClr val="1E293B"/>
                </a:solidFill>
              </a:rPr>
              <a:t> (same period)
</a:t>
            </a:r>
            <a:r>
              <a:rPr lang="en-US" sz="1100" i="1" dirty="0">
                <a:solidFill>
                  <a:srgbClr val="64748B"/>
                </a:solidFill>
              </a:rPr>
              <a:t>Near 1:1 correspondence — a signature of systematic rerouting through connector countries.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493366"/>
              </p:ext>
            </p:extLst>
          </p:nvPr>
        </p:nvGraphicFramePr>
        <p:xfrm>
          <a:off x="6035040" y="1417320"/>
          <a:ext cx="2702559" cy="2372272"/>
        </p:xfrm>
        <a:graphic>
          <a:graphicData uri="http://schemas.openxmlformats.org/drawingml/2006/table">
            <a:tbl>
              <a:tblPr/>
              <a:tblGrid>
                <a:gridCol w="900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3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China 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China 2025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Connector substitute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Servers (ADP)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84855"/>
                          </a:solidFill>
                        </a:rPr>
                        <a:t>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Vietnam 14%, Mexico 36%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Data center equip.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84855"/>
                          </a:solidFill>
                        </a:rPr>
                        <a:t>11%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Vietnam / Thailand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Power transformers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84855"/>
                          </a:solidFill>
                        </a:rPr>
                        <a:t>10%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Vietnam / Thailand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Li-ion batteries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59%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Indonesia (growing)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 2 OF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FDI into connector countries: EV &amp; battery sectors 2015–2024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9050">
            <a:solidFill>
              <a:srgbClr val="2C5F8A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213317500"/>
              </p:ext>
            </p:extLst>
          </p:nvPr>
        </p:nvGraphicFramePr>
        <p:xfrm>
          <a:off x="365760" y="1371600"/>
          <a:ext cx="8412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0" y="1389888"/>
            <a:ext cx="0" cy="2926080"/>
          </a:xfrm>
          <a:prstGeom prst="line">
            <a:avLst/>
          </a:prstGeom>
          <a:noFill/>
          <a:ln w="19050">
            <a:solidFill>
              <a:srgbClr val="E84855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2871894" y="1477941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855"/>
                </a:solidFill>
              </a:rPr>
              <a:t>Section 301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84855"/>
                </a:solidFill>
              </a:rPr>
              <a:t>2018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75320" y="1371600"/>
            <a:ext cx="0" cy="2926080"/>
          </a:xfrm>
          <a:prstGeom prst="line">
            <a:avLst/>
          </a:prstGeom>
          <a:noFill/>
          <a:ln w="19050">
            <a:solidFill>
              <a:srgbClr val="E84855"/>
            </a:solidFill>
            <a:prstDash val="dash"/>
          </a:ln>
        </p:spPr>
        <p:txBody>
          <a:bodyPr/>
          <a:lstStyle/>
          <a:p>
            <a:endParaRPr lang="en-ID" dirty="0"/>
          </a:p>
        </p:txBody>
      </p:sp>
      <p:sp>
        <p:nvSpPr>
          <p:cNvPr id="10" name="Text 7"/>
          <p:cNvSpPr/>
          <p:nvPr/>
        </p:nvSpPr>
        <p:spPr>
          <a:xfrm>
            <a:off x="7520094" y="1477941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855"/>
                </a:solidFill>
              </a:rPr>
              <a:t>100% EV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84855"/>
                </a:solidFill>
              </a:rPr>
              <a:t>tariff 2024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AEI China Global Investment Tracker. Sectors: Transport (EV assembly proxy) + Metals (battery upstream proxy). Deals ≥$95M only. USD millions.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 3 OF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pivot: Chinese capital crosses 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9050">
            <a:solidFill>
              <a:srgbClr val="E84855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417320"/>
          <a:ext cx="3200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5704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84855"/>
                </a:solidFill>
              </a:rPr>
              <a:t>★ First time overseas</a:t>
            </a:r>
            <a:endParaRPr lang="en-US" sz="900" dirty="0"/>
          </a:p>
          <a:p>
            <a:pPr marL="0" indent="0">
              <a:buNone/>
            </a:pPr>
            <a:r>
              <a:rPr lang="en-US" sz="900" b="1" i="1" dirty="0">
                <a:solidFill>
                  <a:srgbClr val="E84855"/>
                </a:solidFill>
              </a:rPr>
              <a:t>exceeds domestic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417320"/>
          <a:ext cx="5029200" cy="268833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Firm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Huayou Cobalt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Indonesia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Apr 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4855"/>
                          </a:solidFill>
                        </a:rPr>
                        <a:t>$2.04B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D97706"/>
                          </a:solidFill>
                        </a:rPr>
                        <a:t>1 month BEFORE tariff — anticipatory positioning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BYD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Thailand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Jul 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4855"/>
                          </a:solidFill>
                        </a:rPr>
                        <a:t>$1.3B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2 months after 100% EV tariff. Rayong plant, 150K units/yr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CATL (via CBL)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Indonesia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4855"/>
                          </a:solidFill>
                        </a:rPr>
                        <a:t>$6.0B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Integrated battery plant — mining to cell production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Chery Auto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Vietnam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4855"/>
                          </a:solidFill>
                        </a:rPr>
                        <a:t>$800M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JV following tariff pressure; RCEP market access hedge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Sailun Tire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Indonesia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Sep 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4855"/>
                          </a:solidFill>
                        </a:rPr>
                        <a:t>$250M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Transport sector — post-tariff announcement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</a:rPr>
              <a:t>Chinese EV sector invested more overseas ($16B) than domestically ($15B) in 2024 — the first time ever. Projects cluster within months of the May 2024 tariff announcement.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empirical design: triple-difference PPML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FDI(i,j,s,t) = exp{ β₁(Connectorⱼ × EV_Sectorₛ × Post_Eventt) + β₂(Connectorⱼ × Post_Eventt) + β₃(EV_Sectorₛ × Post_Eventt) + β₄(Connectorⱼ × EV_Sectorₛ) + γXᵢⱼ + δⱼₜ + θᵢₜ + αₛₜ } × εᵢⱼₛₜ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95728"/>
            <a:ext cx="26517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95728"/>
            <a:ext cx="26517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957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Connector_j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= 1 for Vietnam, Indonesia, Thailand, Malaysia — countries with high geoeconomic connectedness index (Aiyar &amp; Ohnsorge 2024)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395728"/>
            <a:ext cx="26517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95728"/>
            <a:ext cx="2651760" cy="32918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3957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EV_Sector_s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7614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= 1 for automotive OEM, battery manufacturing, critical minerals / nickel processing (AEI: Transport + Metals proxy)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395728"/>
            <a:ext cx="26517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395728"/>
            <a:ext cx="2651760" cy="32918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3957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Post_Event_t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7614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= 1 for years after 2018 Section 301 tariffs. Second version: post May 2024 100% EV tariff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502920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404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Key coefficient β₁: </a:t>
            </a:r>
            <a:r>
              <a:rPr lang="en-US" sz="1050" dirty="0">
                <a:solidFill>
                  <a:srgbClr val="1E293B"/>
                </a:solidFill>
              </a:rPr>
              <a:t>A positive, significant β₁ means Chinese FDI into connector countries in EV/battery sectors increased disproportionately after US tariff escalation — the backdoor is real.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3822192"/>
            <a:ext cx="320040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8404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</a:rPr>
              <a:t>Data available now: </a:t>
            </a:r>
            <a:r>
              <a:rPr lang="en-US" sz="950" dirty="0">
                <a:solidFill>
                  <a:srgbClr val="1E293B"/>
                </a:solidFill>
              </a:rPr>
              <a:t>AEI tracker, CEPII gravity, Bailey et al. UN voting
</a:t>
            </a:r>
            <a:r>
              <a:rPr lang="en-US" sz="950" b="1" dirty="0">
                <a:solidFill>
                  <a:srgbClr val="D97706"/>
                </a:solidFill>
              </a:rPr>
              <a:t>Pending: </a:t>
            </a:r>
            <a:r>
              <a:rPr lang="en-US" sz="950" dirty="0">
                <a:solidFill>
                  <a:srgbClr val="1E293B"/>
                </a:solidFill>
              </a:rPr>
              <a:t>fDi Markets (access request in progress)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Estimator: PPML (handles zeros and skewed count data). Fixed effects: destination-year (δⱼₜ), sector-year (αₛₜ). Errors clustered by country pair.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Country-of-origin ≠ Capital-of-origin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417320"/>
            <a:ext cx="84124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36192"/>
            <a:ext cx="4023360" cy="2194560"/>
          </a:xfrm>
          <a:prstGeom prst="rect">
            <a:avLst/>
          </a:prstGeom>
          <a:solidFill>
            <a:srgbClr val="102030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</a:rPr>
              <a:t>IRA sourcing rules are insufficient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The Inflation Reduction Act's battery sourcing requirements screen for country-of-origin, not capital-of-origin. Indonesian nickel processed by Chinese-owned firms still qualifies for the $7,500 EV tax credit.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36192"/>
            <a:ext cx="4023360" cy="2194560"/>
          </a:xfrm>
          <a:prstGeom prst="rect">
            <a:avLst/>
          </a:prstGeom>
          <a:solidFill>
            <a:srgbClr val="10203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Tariffs redirect assembly, not capital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2029968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US tariffs successfully reduced direct Chinese exports. But they accelerated Chinese FDI into connector countries — effectively subsidising the relocation of Chinese manufacturing into US-aligned territory.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160520"/>
            <a:ext cx="8412480" cy="0"/>
          </a:xfrm>
          <a:prstGeom prst="line">
            <a:avLst/>
          </a:prstGeom>
          <a:noFill/>
          <a:ln w="19050">
            <a:solidFill>
              <a:srgbClr val="3A4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1  </a:t>
            </a:r>
            <a:r>
              <a:rPr lang="en-US" sz="1050" dirty="0">
                <a:solidFill>
                  <a:srgbClr val="FFFFFF"/>
                </a:solidFill>
              </a:rPr>
              <a:t>Request fDi Markets access via library or email Grover &amp; Vézina (agrover1@ifc.org)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2  </a:t>
            </a:r>
            <a:r>
              <a:rPr lang="en-US" sz="1050" dirty="0">
                <a:solidFill>
                  <a:srgbClr val="FFFFFF"/>
                </a:solidFill>
              </a:rPr>
              <a:t>Run PPML baseline on AEI tracker as proxy while </a:t>
            </a:r>
            <a:r>
              <a:rPr lang="en-US" sz="1050" dirty="0" err="1">
                <a:solidFill>
                  <a:srgbClr val="FFFFFF"/>
                </a:solidFill>
              </a:rPr>
              <a:t>fDi</a:t>
            </a:r>
            <a:r>
              <a:rPr lang="en-US" sz="1050" dirty="0">
                <a:solidFill>
                  <a:srgbClr val="FFFFFF"/>
                </a:solidFill>
              </a:rPr>
              <a:t> Markets access is pending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3  </a:t>
            </a:r>
            <a:r>
              <a:rPr lang="en-US" sz="1050" dirty="0">
                <a:solidFill>
                  <a:srgbClr val="FFFFFF"/>
                </a:solidFill>
              </a:rPr>
              <a:t>Add Bailey et al. UN voting + CEPII gravity controls to full specification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02030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"The US thinks it is decoupling from Chinese supply chains. Our evidence suggests it is instead subsidising the relocation of Chinese capital into friendly territory."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1496</Words>
  <Application>Microsoft Office PowerPoint</Application>
  <PresentationFormat>On-screen Show (16:9)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 Backdoor</dc:title>
  <dc:subject>PptxGenJS Presentation</dc:subject>
  <dc:creator>PptxGenJS</dc:creator>
  <cp:lastModifiedBy>Gavin Gumilang</cp:lastModifiedBy>
  <cp:revision>3</cp:revision>
  <dcterms:created xsi:type="dcterms:W3CDTF">2026-05-11T09:24:45Z</dcterms:created>
  <dcterms:modified xsi:type="dcterms:W3CDTF">2026-05-12T02:07:49Z</dcterms:modified>
</cp:coreProperties>
</file>
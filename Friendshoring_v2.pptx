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91840"/>
            <a:ext cx="9144000" cy="1851660"/>
          </a:xfrm>
          <a:prstGeom prst="rect">
            <a:avLst/>
          </a:prstGeom>
          <a:solidFill>
            <a:srgbClr val="2A7A6E"/>
          </a:solidFill>
          <a:ln w="12700">
            <a:solidFill>
              <a:srgbClr val="2A7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1148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The EV Backdoor: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8138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A8D5CF"/>
                </a:solidFill>
              </a:rPr>
              <a:t>How Chinese Firms Route Around US Tariffs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A8D5CF"/>
                </a:solidFill>
              </a:rPr>
              <a:t>Through ASEAN Connector Countries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02920" y="2395728"/>
            <a:ext cx="8138160" cy="0"/>
          </a:xfrm>
          <a:prstGeom prst="line">
            <a:avLst/>
          </a:prstGeom>
          <a:noFill/>
          <a:ln w="15240">
            <a:solidFill>
              <a:srgbClr val="3D9B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542032"/>
            <a:ext cx="8138160" cy="640080"/>
          </a:xfrm>
          <a:prstGeom prst="rect">
            <a:avLst/>
          </a:prstGeom>
          <a:solidFill>
            <a:srgbClr val="0A2535"/>
          </a:solidFill>
          <a:ln w="10160">
            <a:solidFill>
              <a:srgbClr val="3D9B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578608"/>
            <a:ext cx="7909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017"/>
                </a:solidFill>
              </a:rPr>
              <a:t>Research Question: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Does US tariff escalation on China directly trigger a surge in Chinese greenfield FDI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into pro-US Southeast Asian connector countries — Thailand, Indonesia, and Vietnam?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34015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Presenters: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Pia · Alicia · Gavin · Hanna · Linh · Dohyun Ju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37673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D5CF"/>
                </a:solidFill>
              </a:rPr>
              <a:t>Topics in International Finance  |  GSIS, Yonsei University  |  May 2026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4160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4A017"/>
                </a:solidFill>
              </a:rPr>
              <a:t>"Today we show you the first empirical evidence that this backdoor is real."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A7A6E"/>
          </a:solidFill>
          <a:ln w="12700">
            <a:solidFill>
              <a:srgbClr val="2A7A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658368"/>
          </a:xfrm>
          <a:prstGeom prst="rect">
            <a:avLst/>
          </a:prstGeom>
          <a:solidFill>
            <a:srgbClr val="0D2F3F"/>
          </a:solidFill>
          <a:ln w="12700">
            <a:solidFill>
              <a:srgbClr val="0D2F3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The Policy Puzzle: US Tariff Escalation (2018–2026)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543800" y="109728"/>
            <a:ext cx="1417320" cy="420624"/>
          </a:xfrm>
          <a:prstGeom prst="roundRect">
            <a:avLst>
              <a:gd name="adj" fmla="val 17391"/>
            </a:avLst>
          </a:prstGeom>
          <a:solidFill>
            <a:srgbClr val="3D9B8C"/>
          </a:solidFill>
          <a:ln w="12700">
            <a:solidFill>
              <a:srgbClr val="3D9B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43800" y="109728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PIA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41248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 / 8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2608" y="777240"/>
          <a:ext cx="8641080" cy="3383280"/>
        </p:xfrm>
        <a:graphic>
          <a:graphicData uri="http://schemas.openxmlformats.org/drawingml/2006/table">
            <a:tbl>
              <a:tblPr/>
              <a:tblGrid>
                <a:gridCol w="914400"/>
                <a:gridCol w="1280160"/>
                <a:gridCol w="3886200"/>
                <a:gridCol w="25603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Year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F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Administration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F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Key Policy Action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F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EV/Battery Impact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F3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2018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Trump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Section 301 Lists 1–4A + Section 201 Solar (30%)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Broad tariffs on Chinese goods; supply chain pressure begins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2022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Biden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4-year extension of Section 201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Continued pressure; no new EV-specific action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2024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★ KEY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Biden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Strategic Escalation May 14: EVs 25%→100%, Li-Ion Batteries 7.5%→25%, Critical Minerals 0%→25%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Our primary treatment event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Biden/Trump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Semiconductors: 25% → 50%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Extends pressure to upstream tech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Trump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Non-EV Batteries 7.5%→25%, Natural Graphite &amp; Magnets 0%→25%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Full upstream battery supply chain covered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92608" y="4279392"/>
            <a:ext cx="8641080" cy="475488"/>
          </a:xfrm>
          <a:prstGeom prst="rect">
            <a:avLst/>
          </a:prstGeom>
          <a:solidFill>
            <a:srgbClr val="FFF3E0"/>
          </a:solidFill>
          <a:ln w="10160">
            <a:solidFill>
              <a:srgbClr val="E07B3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38912" y="4297680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A00"/>
                </a:solidFill>
              </a:rPr>
              <a:t>Policy goal = decouple from Chinese capital.  </a:t>
            </a:r>
            <a:pPr indent="0" marL="0">
              <a:buNone/>
            </a:pPr>
            <a:r>
              <a:rPr lang="en-US" sz="1200" b="1" i="1" dirty="0">
                <a:solidFill>
                  <a:srgbClr val="C0392B"/>
                </a:solidFill>
              </a:rPr>
              <a:t>But did it actually work?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92608" y="4846320"/>
            <a:ext cx="8641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Source: USTR Section 301 Review; Biden Administration Trade Policy (2024)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A7A6E"/>
          </a:solidFill>
          <a:ln w="12700">
            <a:solidFill>
              <a:srgbClr val="2A7A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658368"/>
          </a:xfrm>
          <a:prstGeom prst="rect">
            <a:avLst/>
          </a:prstGeom>
          <a:solidFill>
            <a:srgbClr val="0D2F3F"/>
          </a:solidFill>
          <a:ln w="12700">
            <a:solidFill>
              <a:srgbClr val="0D2F3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What the Literature Tells Us — And What It Misses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543800" y="109728"/>
            <a:ext cx="1417320" cy="420624"/>
          </a:xfrm>
          <a:prstGeom prst="roundRect">
            <a:avLst>
              <a:gd name="adj" fmla="val 17391"/>
            </a:avLst>
          </a:prstGeom>
          <a:solidFill>
            <a:srgbClr val="3D9B8C"/>
          </a:solidFill>
          <a:ln w="12700">
            <a:solidFill>
              <a:srgbClr val="3D9B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43800" y="109728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GAVIN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41248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 / 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92608" y="777240"/>
            <a:ext cx="4114800" cy="402336"/>
          </a:xfrm>
          <a:prstGeom prst="rect">
            <a:avLst/>
          </a:prstGeom>
          <a:solidFill>
            <a:srgbClr val="2A7A6E"/>
          </a:solidFill>
          <a:ln w="12700">
            <a:solidFill>
              <a:srgbClr val="2A7A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77724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  What We Know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92608" y="1261872"/>
            <a:ext cx="4114800" cy="896112"/>
          </a:xfrm>
          <a:prstGeom prst="rect">
            <a:avLst/>
          </a:prstGeom>
          <a:solidFill>
            <a:srgbClr val="F4F7F7"/>
          </a:solidFill>
          <a:ln w="5080">
            <a:solidFill>
              <a:srgbClr val="C8D8D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02336" y="1316736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7A6E"/>
                </a:solidFill>
              </a:rPr>
              <a:t>Grover &amp; Vézina (2025)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02336" y="1536192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Chinese firms invest significantly MORE in US-aligned countries post-2018 — aggregate FDI pattern confirmed (see Fig. 4b: upward-sloping line for Chinese FDI into US-aligned nations)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92608" y="2249424"/>
            <a:ext cx="4114800" cy="896112"/>
          </a:xfrm>
          <a:prstGeom prst="rect">
            <a:avLst/>
          </a:prstGeom>
          <a:solidFill>
            <a:srgbClr val="F4F7F7"/>
          </a:solidFill>
          <a:ln w="5080">
            <a:solidFill>
              <a:srgbClr val="C8D8D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02336" y="2304288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7A6E"/>
                </a:solidFill>
              </a:rPr>
              <a:t>Aiyar &amp; Ohnsorge (2024, IMF)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02336" y="2523744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Connector countries systematically substitute for direct inter-bloc trade links — ASEAN absorbs displaced China–US flows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92608" y="3236976"/>
            <a:ext cx="4114800" cy="896112"/>
          </a:xfrm>
          <a:prstGeom prst="rect">
            <a:avLst/>
          </a:prstGeom>
          <a:solidFill>
            <a:srgbClr val="F4F7F7"/>
          </a:solidFill>
          <a:ln w="5080">
            <a:solidFill>
              <a:srgbClr val="C8D8D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02336" y="3291840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7A6E"/>
                </a:solidFill>
              </a:rPr>
              <a:t>General consensus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02336" y="3511296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Trade diversion from Section 301 is real and measurable — Vietnam, Mexico benefit in electronics and machinery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36592" y="777240"/>
            <a:ext cx="4160520" cy="40233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36592" y="777240"/>
            <a:ext cx="4160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✗  What Nobody Has Tested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36592" y="1261872"/>
            <a:ext cx="4160520" cy="896112"/>
          </a:xfrm>
          <a:prstGeom prst="rect">
            <a:avLst/>
          </a:prstGeom>
          <a:solidFill>
            <a:srgbClr val="FFF5F5"/>
          </a:solidFill>
          <a:ln w="5080">
            <a:solidFill>
              <a:srgbClr val="F0C0C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46320" y="131673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</a:rPr>
              <a:t>No sector-specific EV/battery evidence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1536192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Existing studies use aggregate FDI — no one has isolated the EV and battery upstream sectors specifically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36592" y="2249424"/>
            <a:ext cx="4160520" cy="896112"/>
          </a:xfrm>
          <a:prstGeom prst="rect">
            <a:avLst/>
          </a:prstGeom>
          <a:solidFill>
            <a:srgbClr val="FFF5F5"/>
          </a:solidFill>
          <a:ln w="5080">
            <a:solidFill>
              <a:srgbClr val="F0C0C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46320" y="230428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</a:rPr>
              <a:t>No event-study around the 2024 tariff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46320" y="2523744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The 100% EV tariff (May 2024) is the sharpest natural experiment available, yet untested in the literature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36592" y="3236976"/>
            <a:ext cx="4160520" cy="896112"/>
          </a:xfrm>
          <a:prstGeom prst="rect">
            <a:avLst/>
          </a:prstGeom>
          <a:solidFill>
            <a:srgbClr val="FFF5F5"/>
          </a:solidFill>
          <a:ln w="5080">
            <a:solidFill>
              <a:srgbClr val="F0C0C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46320" y="32918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</a:rPr>
              <a:t>No project-level causal link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46320" y="3511296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Aggregate correlations exist, but firm-level groundbreaking decisions tied to specific tariff dates have not been documented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92608" y="4279392"/>
            <a:ext cx="8641080" cy="402336"/>
          </a:xfrm>
          <a:prstGeom prst="rect">
            <a:avLst/>
          </a:prstGeom>
          <a:solidFill>
            <a:srgbClr val="E8F4F1"/>
          </a:solidFill>
          <a:ln w="10160">
            <a:solidFill>
              <a:srgbClr val="2A7A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" y="42976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7A6E"/>
                </a:solidFill>
              </a:rPr>
              <a:t>→  We zoom into the one sector where US policy is most exposed: EV &amp; battery supply chains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292608" y="4846320"/>
            <a:ext cx="8641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Source: Grover &amp; Vézina (2025); Aiyar &amp; Ohnsorge (2024, IMF WP)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A7A6E"/>
          </a:solidFill>
          <a:ln w="12700">
            <a:solidFill>
              <a:srgbClr val="2A7A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658368"/>
          </a:xfrm>
          <a:prstGeom prst="rect">
            <a:avLst/>
          </a:prstGeom>
          <a:solidFill>
            <a:srgbClr val="0D2F3F"/>
          </a:solidFill>
          <a:ln w="12700">
            <a:solidFill>
              <a:srgbClr val="0D2F3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Evidence Part 1: Trade Flows Confirm the Backdoor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543800" y="109728"/>
            <a:ext cx="1417320" cy="420624"/>
          </a:xfrm>
          <a:prstGeom prst="roundRect">
            <a:avLst>
              <a:gd name="adj" fmla="val 17391"/>
            </a:avLst>
          </a:prstGeom>
          <a:solidFill>
            <a:srgbClr val="3D9B8C"/>
          </a:solidFill>
          <a:ln w="12700">
            <a:solidFill>
              <a:srgbClr val="3D9B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43800" y="109728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DOHYEON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41248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 / 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92608" y="777240"/>
            <a:ext cx="2697480" cy="3657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7772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China Battery Market Share Collapse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92608" y="1188720"/>
            <a:ext cx="2697480" cy="493776"/>
          </a:xfrm>
          <a:prstGeom prst="rect">
            <a:avLst/>
          </a:prstGeom>
          <a:solidFill>
            <a:srgbClr val="E8F0EF"/>
          </a:solidFill>
          <a:ln w="3810">
            <a:solidFill>
              <a:srgbClr val="D8E4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234440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2F3F"/>
                </a:solidFill>
              </a:rPr>
              <a:t>Metric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618488" y="1234440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</a:rPr>
              <a:t>Value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92608" y="1719072"/>
            <a:ext cx="2697480" cy="493776"/>
          </a:xfrm>
          <a:prstGeom prst="rect">
            <a:avLst/>
          </a:prstGeom>
          <a:solidFill>
            <a:srgbClr val="F4F7F7"/>
          </a:solidFill>
          <a:ln w="3810">
            <a:solidFill>
              <a:srgbClr val="D8E4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764792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China Li-Ion Battery share (2023)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618488" y="1764792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</a:rPr>
              <a:t>71%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92608" y="2249424"/>
            <a:ext cx="2697480" cy="493776"/>
          </a:xfrm>
          <a:prstGeom prst="rect">
            <a:avLst/>
          </a:prstGeom>
          <a:solidFill>
            <a:srgbClr val="FFFFFF"/>
          </a:solidFill>
          <a:ln w="3810">
            <a:solidFill>
              <a:srgbClr val="D8E4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95144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China Li-Ion Battery share (2025)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618488" y="2295144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</a:rPr>
              <a:t>59%  ▼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92608" y="2779776"/>
            <a:ext cx="2697480" cy="493776"/>
          </a:xfrm>
          <a:prstGeom prst="rect">
            <a:avLst/>
          </a:prstGeom>
          <a:solidFill>
            <a:srgbClr val="F4F7F7"/>
          </a:solidFill>
          <a:ln w="3810">
            <a:solidFill>
              <a:srgbClr val="D8E4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825496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Vietnam laptop share (2018)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618488" y="2825496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</a:rPr>
              <a:t>1.7%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92608" y="3310128"/>
            <a:ext cx="2697480" cy="493776"/>
          </a:xfrm>
          <a:prstGeom prst="rect">
            <a:avLst/>
          </a:prstGeom>
          <a:solidFill>
            <a:srgbClr val="FFFFFF"/>
          </a:solidFill>
          <a:ln w="3810">
            <a:solidFill>
              <a:srgbClr val="D8E4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355848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Vietnam laptop share (2024)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618488" y="3355848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7A6E"/>
                </a:solidFill>
              </a:rPr>
              <a:t>28%  ▲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38328" y="385876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0392B"/>
                </a:solidFill>
              </a:rPr>
              <a:t>Direct exports fall — connectors fill the gap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145536" y="777240"/>
            <a:ext cx="2697480" cy="36576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45536" y="7772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Transformer Transshipment: Near 1:1 Match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145536" y="1188720"/>
            <a:ext cx="2697480" cy="493776"/>
          </a:xfrm>
          <a:prstGeom prst="rect">
            <a:avLst/>
          </a:prstGeom>
          <a:solidFill>
            <a:srgbClr val="E8F0EF"/>
          </a:solidFill>
          <a:ln w="3810">
            <a:solidFill>
              <a:srgbClr val="D8E4E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18688" y="1234440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2F3F"/>
                </a:solidFill>
              </a:rPr>
              <a:t>Flow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471416" y="1234440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</a:rPr>
              <a:t>Change (2020–25)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145536" y="1719072"/>
            <a:ext cx="2697480" cy="493776"/>
          </a:xfrm>
          <a:prstGeom prst="rect">
            <a:avLst/>
          </a:prstGeom>
          <a:solidFill>
            <a:srgbClr val="F4F7F7"/>
          </a:solidFill>
          <a:ln w="3810">
            <a:solidFill>
              <a:srgbClr val="D8E4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18688" y="1764792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China exports → Vietnam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471416" y="1764792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</a:rPr>
              <a:t>+$1.5B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145536" y="2249424"/>
            <a:ext cx="2697480" cy="493776"/>
          </a:xfrm>
          <a:prstGeom prst="rect">
            <a:avLst/>
          </a:prstGeom>
          <a:solidFill>
            <a:srgbClr val="FFFFFF"/>
          </a:solidFill>
          <a:ln w="3810">
            <a:solidFill>
              <a:srgbClr val="D8E4E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18688" y="2295144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US imports ← Vietnam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471416" y="2295144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</a:rPr>
              <a:t>+$1.4B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145536" y="2779776"/>
            <a:ext cx="2697480" cy="493776"/>
          </a:xfrm>
          <a:prstGeom prst="rect">
            <a:avLst/>
          </a:prstGeom>
          <a:solidFill>
            <a:srgbClr val="F4F7F7"/>
          </a:solidFill>
          <a:ln w="3810">
            <a:solidFill>
              <a:srgbClr val="D8E4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18688" y="2825496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Match ratio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471416" y="2825496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~1:1  ★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145536" y="3310128"/>
            <a:ext cx="2697480" cy="493776"/>
          </a:xfrm>
          <a:prstGeom prst="rect">
            <a:avLst/>
          </a:prstGeom>
          <a:solidFill>
            <a:srgbClr val="FFFFFF"/>
          </a:solidFill>
          <a:ln w="3810">
            <a:solidFill>
              <a:srgbClr val="D8E4E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18688" y="3355848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Interpretation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471416" y="3355848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</a:rPr>
              <a:t>Rerouting signature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191256" y="385876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07B39"/>
                </a:solidFill>
              </a:rPr>
              <a:t>Analysts identify 1:1 as statistical signature of rerouting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998464" y="777240"/>
            <a:ext cx="2697480" cy="365760"/>
          </a:xfrm>
          <a:prstGeom prst="rect">
            <a:avLst/>
          </a:prstGeom>
          <a:solidFill>
            <a:srgbClr val="2A7A6E"/>
          </a:solidFill>
          <a:ln w="12700">
            <a:solidFill>
              <a:srgbClr val="2A7A6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98464" y="7772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Chinese Import Content Rising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998464" y="1188720"/>
            <a:ext cx="2697480" cy="493776"/>
          </a:xfrm>
          <a:prstGeom prst="rect">
            <a:avLst/>
          </a:prstGeom>
          <a:solidFill>
            <a:srgbClr val="E8F0EF"/>
          </a:solidFill>
          <a:ln w="3810">
            <a:solidFill>
              <a:srgbClr val="D8E4E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71616" y="1234440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2F3F"/>
                </a:solidFill>
              </a:rPr>
              <a:t>Metric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7324344" y="1234440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</a:rPr>
              <a:t>Finding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998464" y="1719072"/>
            <a:ext cx="2697480" cy="493776"/>
          </a:xfrm>
          <a:prstGeom prst="rect">
            <a:avLst/>
          </a:prstGeom>
          <a:solidFill>
            <a:srgbClr val="F4F7F7"/>
          </a:solidFill>
          <a:ln w="3810">
            <a:solidFill>
              <a:srgbClr val="D8E4E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71616" y="1764792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Tariff increase effect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7324344" y="1764792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</a:rPr>
              <a:t>+1.82 pp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5998464" y="2249424"/>
            <a:ext cx="2697480" cy="493776"/>
          </a:xfrm>
          <a:prstGeom prst="rect">
            <a:avLst/>
          </a:prstGeom>
          <a:solidFill>
            <a:srgbClr val="FFFFFF"/>
          </a:solidFill>
          <a:ln w="3810">
            <a:solidFill>
              <a:srgbClr val="D8E4E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071616" y="2295144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What this means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7324344" y="2295144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</a:rPr>
              <a:t>Per 1% tariff hike on China, connector exports to US contain 1.82pp MORE Chinese content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5998464" y="2779776"/>
            <a:ext cx="2697480" cy="493776"/>
          </a:xfrm>
          <a:prstGeom prst="rect">
            <a:avLst/>
          </a:prstGeom>
          <a:solidFill>
            <a:srgbClr val="F4F7F7"/>
          </a:solidFill>
          <a:ln w="3810">
            <a:solidFill>
              <a:srgbClr val="D8E4E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071616" y="2825496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7324344" y="2825496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5998464" y="3310128"/>
            <a:ext cx="2697480" cy="493776"/>
          </a:xfrm>
          <a:prstGeom prst="rect">
            <a:avLst/>
          </a:prstGeom>
          <a:solidFill>
            <a:srgbClr val="FFFFFF"/>
          </a:solidFill>
          <a:ln w="3810">
            <a:solidFill>
              <a:srgbClr val="D8E4E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071616" y="3355848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Conclusion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7324344" y="3355848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</a:rPr>
              <a:t>Backdoor is open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6044184" y="385876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A7A6E"/>
                </a:solidFill>
              </a:rPr>
              <a:t>Source: PIIE trade content analysis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292608" y="4251960"/>
            <a:ext cx="8641080" cy="457200"/>
          </a:xfrm>
          <a:prstGeom prst="rect">
            <a:avLst/>
          </a:prstGeom>
          <a:solidFill>
            <a:srgbClr val="0A2535"/>
          </a:solidFill>
          <a:ln w="7620">
            <a:solidFill>
              <a:srgbClr val="3D9B8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38912" y="4270248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The backdoor is visible in trade data — next slide shows it in capital flows too</a:t>
            </a:r>
            <a:endParaRPr lang="en-US" sz="1150" dirty="0"/>
          </a:p>
        </p:txBody>
      </p:sp>
      <p:sp>
        <p:nvSpPr>
          <p:cNvPr id="64" name="Text 62"/>
          <p:cNvSpPr/>
          <p:nvPr/>
        </p:nvSpPr>
        <p:spPr>
          <a:xfrm>
            <a:off x="292608" y="4828032"/>
            <a:ext cx="8641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Source: USTR; PIIE; Pia (2025) — US Import Share Analysis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A7A6E"/>
          </a:solidFill>
          <a:ln w="12700">
            <a:solidFill>
              <a:srgbClr val="2A7A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658368"/>
          </a:xfrm>
          <a:prstGeom prst="rect">
            <a:avLst/>
          </a:prstGeom>
          <a:solidFill>
            <a:srgbClr val="0D2F3F"/>
          </a:solidFill>
          <a:ln w="12700">
            <a:solidFill>
              <a:srgbClr val="0D2F3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Evidence Part 2: Chinese FDI into Connector Countries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543800" y="109728"/>
            <a:ext cx="1417320" cy="420624"/>
          </a:xfrm>
          <a:prstGeom prst="roundRect">
            <a:avLst>
              <a:gd name="adj" fmla="val 17391"/>
            </a:avLst>
          </a:prstGeom>
          <a:solidFill>
            <a:srgbClr val="3D9B8C"/>
          </a:solidFill>
          <a:ln w="12700">
            <a:solidFill>
              <a:srgbClr val="3D9B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43800" y="109728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GAVIN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41248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4 / 8</a:t>
            </a:r>
            <a:endParaRPr lang="en-US" sz="900" dirty="0"/>
          </a:p>
        </p:txBody>
      </p:sp>
      <p:pic>
        <p:nvPicPr>
          <p:cNvPr id="8" name="Image 0" descr="/home/claude/fdi_char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6032" y="749808"/>
            <a:ext cx="8686800" cy="400507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92608" y="4773168"/>
            <a:ext cx="4206240" cy="292608"/>
          </a:xfrm>
          <a:prstGeom prst="rect">
            <a:avLst/>
          </a:prstGeom>
          <a:solidFill>
            <a:srgbClr val="F4F7F7"/>
          </a:solidFill>
          <a:ln w="5080">
            <a:solidFill>
              <a:srgbClr val="D0DD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47472" y="478231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Data: MOFCOM China · SAFE · NBS China (via Statista, 2025)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617720" y="4773168"/>
            <a:ext cx="4315968" cy="292608"/>
          </a:xfrm>
          <a:prstGeom prst="rect">
            <a:avLst/>
          </a:prstGeom>
          <a:solidFill>
            <a:srgbClr val="FFF5F5"/>
          </a:solidFill>
          <a:ln w="5080">
            <a:solidFill>
              <a:srgbClr val="F0C0C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63440" y="4782312"/>
            <a:ext cx="42245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0392B"/>
                </a:solidFill>
              </a:rPr>
              <a:t>⚠  Limitation: bilateral totals only — EV/battery sector not yet isolated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A7A6E"/>
          </a:solidFill>
          <a:ln w="12700">
            <a:solidFill>
              <a:srgbClr val="2A7A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658368"/>
          </a:xfrm>
          <a:prstGeom prst="rect">
            <a:avLst/>
          </a:prstGeom>
          <a:solidFill>
            <a:srgbClr val="0D2F3F"/>
          </a:solidFill>
          <a:ln w="12700">
            <a:solidFill>
              <a:srgbClr val="0D2F3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The Smoking Gun: 2024 Project-Level Evidence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543800" y="109728"/>
            <a:ext cx="1417320" cy="420624"/>
          </a:xfrm>
          <a:prstGeom prst="roundRect">
            <a:avLst>
              <a:gd name="adj" fmla="val 17391"/>
            </a:avLst>
          </a:prstGeom>
          <a:solidFill>
            <a:srgbClr val="3D9B8C"/>
          </a:solidFill>
          <a:ln w="12700">
            <a:solidFill>
              <a:srgbClr val="3D9B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43800" y="109728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ALICIA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41248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5 / 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92608" y="777240"/>
            <a:ext cx="8641080" cy="347472"/>
          </a:xfrm>
          <a:prstGeom prst="rect">
            <a:avLst/>
          </a:prstGeom>
          <a:solidFill>
            <a:srgbClr val="0D2F3F"/>
          </a:solidFill>
          <a:ln w="12700">
            <a:solidFill>
              <a:srgbClr val="0D2F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777240"/>
            <a:ext cx="8458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17"/>
                </a:solidFill>
              </a:rPr>
              <a:t>2024 CROSSOVER: For the first time in history, Chinese EV firms invested MORE overseas than at home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2608" y="1188720"/>
            <a:ext cx="2194560" cy="1051560"/>
          </a:xfrm>
          <a:prstGeom prst="rect">
            <a:avLst/>
          </a:prstGeom>
          <a:solidFill>
            <a:srgbClr val="F4F7F7"/>
          </a:solidFill>
          <a:ln w="12700">
            <a:solidFill>
              <a:srgbClr val="D0DD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92608" y="1188720"/>
            <a:ext cx="2194560" cy="91440"/>
          </a:xfrm>
          <a:prstGeom prst="rect">
            <a:avLst/>
          </a:prstGeom>
          <a:solidFill>
            <a:srgbClr val="2A7A6E"/>
          </a:solidFill>
          <a:ln w="12700">
            <a:solidFill>
              <a:srgbClr val="2A7A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" y="129844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7A6E"/>
                </a:solidFill>
              </a:rPr>
              <a:t>$16B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65760" y="1801368"/>
            <a:ext cx="2057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Overseas ZEV Investment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(2024)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670048" y="1188720"/>
            <a:ext cx="2194560" cy="1051560"/>
          </a:xfrm>
          <a:prstGeom prst="rect">
            <a:avLst/>
          </a:prstGeom>
          <a:solidFill>
            <a:srgbClr val="F4F7F7"/>
          </a:solidFill>
          <a:ln w="12700">
            <a:solidFill>
              <a:srgbClr val="D0DD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670048" y="1188720"/>
            <a:ext cx="2194560" cy="914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70048" y="129844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4748B"/>
                </a:solidFill>
              </a:rPr>
              <a:t>$15B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2743200" y="1801368"/>
            <a:ext cx="2057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Domestic ZEV Investment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(2024)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047488" y="1188720"/>
            <a:ext cx="2194560" cy="1051560"/>
          </a:xfrm>
          <a:prstGeom prst="rect">
            <a:avLst/>
          </a:prstGeom>
          <a:solidFill>
            <a:srgbClr val="F4F7F7"/>
          </a:solidFill>
          <a:ln w="12700">
            <a:solidFill>
              <a:srgbClr val="D0DD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47488" y="1188720"/>
            <a:ext cx="2194560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47488" y="129844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392B"/>
                </a:solidFill>
              </a:rPr>
              <a:t>+72×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5120640" y="1801368"/>
            <a:ext cx="2057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China EV exports → Indonesia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Jan–Apr 2024 vs prior year</a:t>
            </a:r>
            <a:endParaRPr lang="en-US" sz="8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2608" y="2331720"/>
          <a:ext cx="8641080" cy="1691640"/>
        </p:xfrm>
        <a:graphic>
          <a:graphicData uri="http://schemas.openxmlformats.org/drawingml/2006/table">
            <a:tbl>
              <a:tblPr/>
              <a:tblGrid>
                <a:gridCol w="1463040"/>
                <a:gridCol w="1280160"/>
                <a:gridCol w="1600200"/>
                <a:gridCol w="2103120"/>
                <a:gridCol w="219456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Company</a:t>
                      </a:r>
                      <a:endParaRPr lang="en-US" sz="9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F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Country</a:t>
                      </a:r>
                      <a:endParaRPr lang="en-US" sz="9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F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Date</a:t>
                      </a:r>
                      <a:endParaRPr lang="en-US" sz="9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F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Amount</a:t>
                      </a:r>
                      <a:endParaRPr lang="en-US" sz="9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F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Timing vs. Tariff</a:t>
                      </a:r>
                      <a:endParaRPr lang="en-US" sz="9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F3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Huayou Cobalt</a:t>
                      </a:r>
                      <a:endParaRPr lang="en-US" sz="9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🇮🇩 Indonesia</a:t>
                      </a:r>
                      <a:endParaRPr lang="en-US" sz="9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April 2024</a:t>
                      </a:r>
                      <a:endParaRPr lang="en-US" sz="9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$2.04B</a:t>
                      </a:r>
                      <a:endParaRPr lang="en-US" sz="9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07B39"/>
                          </a:solidFill>
                        </a:rPr>
                        <a:t>1 month BEFORE — anticipatory positioning</a:t>
                      </a:r>
                      <a:endParaRPr lang="en-US" sz="9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BYD</a:t>
                      </a:r>
                      <a:endParaRPr lang="en-US" sz="9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🇹🇭 Thailand</a:t>
                      </a:r>
                      <a:endParaRPr lang="en-US" sz="9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July 2024</a:t>
                      </a:r>
                      <a:endParaRPr lang="en-US" sz="9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$1.3B  (150k units/yr)</a:t>
                      </a:r>
                      <a:endParaRPr lang="en-US" sz="9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</a:rPr>
                        <a:t>+2 months after tariff ★</a:t>
                      </a:r>
                      <a:endParaRPr lang="en-US" sz="9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CATL (CBL)</a:t>
                      </a:r>
                      <a:endParaRPr lang="en-US" sz="9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🇮🇩 Indonesia</a:t>
                      </a:r>
                      <a:endParaRPr lang="en-US" sz="9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2025 Groundbreaking</a:t>
                      </a:r>
                      <a:endParaRPr lang="en-US" sz="9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$6.0B integrated plant</a:t>
                      </a:r>
                      <a:endParaRPr lang="en-US" sz="9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A7A6E"/>
                          </a:solidFill>
                        </a:rPr>
                        <a:t>Structural follow-through</a:t>
                      </a:r>
                      <a:endParaRPr lang="en-US" sz="9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292608" y="4096512"/>
            <a:ext cx="8641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07B39"/>
                </a:solidFill>
              </a:rPr>
              <a:t>Note: Huayou Cobalt's April 2024 deal — before the May announcement — shows anticipatory positioning, which strengthens the causal argument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292608" y="4828032"/>
            <a:ext cx="8641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Source: Company filings; Nikkei Asia; Reuters; BloombergNEF ZEV Investment Tracker (2024)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A7A6E"/>
          </a:solidFill>
          <a:ln w="12700">
            <a:solidFill>
              <a:srgbClr val="2A7A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658368"/>
          </a:xfrm>
          <a:prstGeom prst="rect">
            <a:avLst/>
          </a:prstGeom>
          <a:solidFill>
            <a:srgbClr val="0D2F3F"/>
          </a:solidFill>
          <a:ln w="12700">
            <a:solidFill>
              <a:srgbClr val="0D2F3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Our Planned Methodology: PPML Triple-Difference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543800" y="109728"/>
            <a:ext cx="1417320" cy="420624"/>
          </a:xfrm>
          <a:prstGeom prst="roundRect">
            <a:avLst>
              <a:gd name="adj" fmla="val 17391"/>
            </a:avLst>
          </a:prstGeom>
          <a:solidFill>
            <a:srgbClr val="3D9B8C"/>
          </a:solidFill>
          <a:ln w="12700">
            <a:solidFill>
              <a:srgbClr val="3D9B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43800" y="109728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ALL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41248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6 / 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92608" y="777240"/>
            <a:ext cx="8641080" cy="804672"/>
          </a:xfrm>
          <a:prstGeom prst="rect">
            <a:avLst/>
          </a:prstGeom>
          <a:solidFill>
            <a:srgbClr val="0A2535"/>
          </a:solidFill>
          <a:ln w="10160">
            <a:solidFill>
              <a:srgbClr val="3D9B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795528"/>
            <a:ext cx="83667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4A017"/>
                </a:solidFill>
              </a:rPr>
              <a:t>FDIᵢⱼₜ  =  exp( β₁ · TariffEvent × Connector × EVsector  +  β₂ · IPD  +  γXᵢⱼ  +  αₜ  +  δⱼₜ ) · εᵢⱼₜ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292608" y="1691640"/>
            <a:ext cx="2697480" cy="347472"/>
          </a:xfrm>
          <a:prstGeom prst="rect">
            <a:avLst/>
          </a:prstGeom>
          <a:solidFill>
            <a:srgbClr val="2A7A6E"/>
          </a:solidFill>
          <a:ln w="12700">
            <a:solidFill>
              <a:srgbClr val="2A7A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" y="169164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Connector × EV sector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92608" y="2039112"/>
            <a:ext cx="2697480" cy="658368"/>
          </a:xfrm>
          <a:prstGeom prst="rect">
            <a:avLst/>
          </a:prstGeom>
          <a:solidFill>
            <a:srgbClr val="F4F7F7"/>
          </a:solidFill>
          <a:ln w="12700">
            <a:solidFill>
              <a:srgbClr val="D0DD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084832"/>
            <a:ext cx="25603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Did the FDI surge happen specifically in connector countries (vs. others)?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145536" y="1691640"/>
            <a:ext cx="2697480" cy="34747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45536" y="169164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× Post-tariff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145536" y="2039112"/>
            <a:ext cx="2697480" cy="658368"/>
          </a:xfrm>
          <a:prstGeom prst="rect">
            <a:avLst/>
          </a:prstGeom>
          <a:solidFill>
            <a:srgbClr val="F4F7F7"/>
          </a:solidFill>
          <a:ln w="12700">
            <a:solidFill>
              <a:srgbClr val="D0DD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18688" y="2084832"/>
            <a:ext cx="25603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Did it happen after the tariff event (2018 or 2024), not before?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998464" y="1691640"/>
            <a:ext cx="269748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98464" y="169164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Triple interaction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98464" y="2039112"/>
            <a:ext cx="2697480" cy="658368"/>
          </a:xfrm>
          <a:prstGeom prst="rect">
            <a:avLst/>
          </a:prstGeom>
          <a:solidFill>
            <a:srgbClr val="F4F7F7"/>
          </a:solidFill>
          <a:ln w="12700">
            <a:solidFill>
              <a:srgbClr val="D0DD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71616" y="2084832"/>
            <a:ext cx="25603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Was the effect concentrated in EV/battery sectors specifically — not all FDI?</a:t>
            </a:r>
            <a:endParaRPr lang="en-US" sz="9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2608" y="2834640"/>
          <a:ext cx="8641080" cy="1664208"/>
        </p:xfrm>
        <a:graphic>
          <a:graphicData uri="http://schemas.openxmlformats.org/drawingml/2006/table">
            <a:tbl>
              <a:tblPr/>
              <a:tblGrid>
                <a:gridCol w="3200400"/>
                <a:gridCol w="2011680"/>
                <a:gridCol w="34290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Data Source</a:t>
                      </a:r>
                      <a:endParaRPr lang="en-US" sz="9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F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9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F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9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F3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fDi Markets (project-level FDI)</a:t>
                      </a:r>
                      <a:endParaRPr lang="en-US" sz="9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07B39"/>
                          </a:solidFill>
                        </a:rPr>
                        <a:t>⏳ Pending access</a:t>
                      </a:r>
                      <a:endParaRPr lang="en-US" sz="9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Primary dependent variable</a:t>
                      </a:r>
                      <a:endParaRPr lang="en-US" sz="9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AEI China Global Investment Tracker (≥$95M)</a:t>
                      </a:r>
                      <a:endParaRPr lang="en-US" sz="9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A7A6E"/>
                          </a:solidFill>
                        </a:rPr>
                        <a:t>✅ Available</a:t>
                      </a:r>
                      <a:endParaRPr lang="en-US" sz="9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Proxy — Transport + Metals sectors</a:t>
                      </a:r>
                      <a:endParaRPr lang="en-US" sz="9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CEPII Gravity dataset</a:t>
                      </a:r>
                      <a:endParaRPr lang="en-US" sz="9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A7A6E"/>
                          </a:solidFill>
                        </a:rPr>
                        <a:t>✅ Available</a:t>
                      </a:r>
                      <a:endParaRPr lang="en-US" sz="9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Bilateral gravity controls</a:t>
                      </a:r>
                      <a:endParaRPr lang="en-US" sz="9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Bailey et al. UN voting alignment</a:t>
                      </a:r>
                      <a:endParaRPr lang="en-US" sz="9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A7A6E"/>
                          </a:solidFill>
                        </a:rPr>
                        <a:t>✅ Available</a:t>
                      </a:r>
                      <a:endParaRPr lang="en-US" sz="9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IPD (ideal point distance)</a:t>
                      </a:r>
                      <a:endParaRPr lang="en-US" sz="9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292608" y="4617720"/>
            <a:ext cx="8641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E07B39"/>
                </a:solidFill>
              </a:rPr>
              <a:t>Transparent note: fDi Markets access is pending — regression not yet run. Descriptive evidence on prior slides already supports the hypothesis.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A7A6E"/>
          </a:solidFill>
          <a:ln w="12700">
            <a:solidFill>
              <a:srgbClr val="2A7A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658368"/>
          </a:xfrm>
          <a:prstGeom prst="rect">
            <a:avLst/>
          </a:prstGeom>
          <a:solidFill>
            <a:srgbClr val="0D2F3F"/>
          </a:solidFill>
          <a:ln w="12700">
            <a:solidFill>
              <a:srgbClr val="0D2F3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Policy Implications &amp; Next Steps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543800" y="109728"/>
            <a:ext cx="1417320" cy="420624"/>
          </a:xfrm>
          <a:prstGeom prst="roundRect">
            <a:avLst>
              <a:gd name="adj" fmla="val 17391"/>
            </a:avLst>
          </a:prstGeom>
          <a:solidFill>
            <a:srgbClr val="3D9B8C"/>
          </a:solidFill>
          <a:ln w="12700">
            <a:solidFill>
              <a:srgbClr val="3D9B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43800" y="109728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ALL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41248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7 / 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92608" y="777240"/>
            <a:ext cx="8641080" cy="512064"/>
          </a:xfrm>
          <a:prstGeom prst="rect">
            <a:avLst/>
          </a:prstGeom>
          <a:solidFill>
            <a:srgbClr val="0D2F3F"/>
          </a:solidFill>
          <a:ln w="12700">
            <a:solidFill>
              <a:srgbClr val="0D2F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777240"/>
            <a:ext cx="8458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4A017"/>
                </a:solidFill>
              </a:rPr>
              <a:t>Core Finding:  Country-of-origin  ≠  Capital-of-origin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292608" y="1389888"/>
            <a:ext cx="457200" cy="100584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" y="1389888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04672" y="1389888"/>
            <a:ext cx="8138160" cy="1005840"/>
          </a:xfrm>
          <a:prstGeom prst="rect">
            <a:avLst/>
          </a:prstGeom>
          <a:solidFill>
            <a:srgbClr val="F4F7F7"/>
          </a:solidFill>
          <a:ln w="12700">
            <a:solidFill>
              <a:srgbClr val="D0DD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32688" y="1444752"/>
            <a:ext cx="7909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2F3F"/>
                </a:solidFill>
              </a:rPr>
              <a:t>IRA Battery Sourcing Rules Have a Blind Spot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32688" y="1700784"/>
            <a:ext cx="7909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The Inflation Reduction Act's $7,500 EV tax credit excludes 'foreign entities of concern' — but does not screen for Chinese ownership of upstream nickel in Indonesia. Chinese firms control ~75% of Indonesian nickel smelting capacity. The IRA is effectively subsidising the relocation of Chinese capital into friendly territory.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92608" y="2578608"/>
            <a:ext cx="457200" cy="10058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" y="2578608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04672" y="2578608"/>
            <a:ext cx="8138160" cy="1005840"/>
          </a:xfrm>
          <a:prstGeom prst="rect">
            <a:avLst/>
          </a:prstGeom>
          <a:solidFill>
            <a:srgbClr val="F4F7F7"/>
          </a:solidFill>
          <a:ln w="12700">
            <a:solidFill>
              <a:srgbClr val="D0DD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32688" y="2633472"/>
            <a:ext cx="7909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2F3F"/>
                </a:solidFill>
              </a:rPr>
              <a:t>Tariffs Redirect Assembly — Not Capital Control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32688" y="2889504"/>
            <a:ext cx="7909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Section 301 and the 100% EV tariff successfully reduced direct Chinese exports to the US. But our preliminary evidence shows they simultaneously accelerated Chinese FDI into connector countries — creating deeper structural entanglement, not decoupling.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92608" y="3840480"/>
            <a:ext cx="8641080" cy="256032"/>
          </a:xfrm>
          <a:prstGeom prst="rect">
            <a:avLst/>
          </a:prstGeom>
          <a:solidFill>
            <a:srgbClr val="2A7A6E"/>
          </a:solidFill>
          <a:ln w="12700">
            <a:solidFill>
              <a:srgbClr val="2A7A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2608" y="3840480"/>
            <a:ext cx="8641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Next Steps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84048" y="414223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① fDi Markets access → run PPML baseline    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② Email Grover &amp; Vézina authors for data    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③ Add LVA variable (screwdriver assembly vs. durable integration)    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④ Expand to EU tariff events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92608" y="4617720"/>
            <a:ext cx="8641080" cy="411480"/>
          </a:xfrm>
          <a:prstGeom prst="rect">
            <a:avLst/>
          </a:prstGeom>
          <a:solidFill>
            <a:srgbClr val="0A2535"/>
          </a:solidFill>
          <a:ln w="10160">
            <a:solidFill>
              <a:srgbClr val="D4A01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2336" y="4626864"/>
            <a:ext cx="8412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4A017"/>
                </a:solidFill>
              </a:rPr>
              <a:t>"The US thinks it is decoupling from Chinese supply chains. Our preliminary evidence suggests it is instead subsidising the relocation of Chinese capital into friendly territory."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00"/>
            <a:ext cx="9144000" cy="1417320"/>
          </a:xfrm>
          <a:prstGeom prst="rect">
            <a:avLst/>
          </a:prstGeom>
          <a:solidFill>
            <a:srgbClr val="2A7A6E"/>
          </a:solidFill>
          <a:ln w="12700">
            <a:solidFill>
              <a:srgbClr val="2A7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Thank You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333756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8D5CF"/>
                </a:solidFill>
              </a:rPr>
              <a:t>Questions &amp; Discussion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9319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8D5CF"/>
                </a:solidFill>
              </a:rPr>
              <a:t>Research Group: Pia · Alicia · Gavin · Hanna · Linh · Dohyun Ju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A8D5CF"/>
                </a:solidFill>
              </a:rPr>
              <a:t>GSIS, Yonsei University  |  Topics in International Finance  |  May 2026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4A017"/>
                </a:solidFill>
              </a:rPr>
              <a:t>"Country-of-origin ≠ Capital-of-origin"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2026-05-11T09:27:54Z</dcterms:created>
  <dcterms:modified xsi:type="dcterms:W3CDTF">2026-05-11T09:27:54Z</dcterms:modified>
</cp:coreProperties>
</file>